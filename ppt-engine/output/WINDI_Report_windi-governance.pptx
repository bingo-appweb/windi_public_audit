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Levels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F1C40F"/>
              </a:solidFill>
              <a:effectLst/>
            </c:spPr>
          </c:dPt>
          <c:dPt>
            <c:idx val="3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R0 Minimal</c:v>
                </c:pt>
                <c:pt idx="1">
                  <c:v>R1 Low</c:v>
                </c:pt>
                <c:pt idx="2">
                  <c:v>R2 Moderate</c:v>
                </c:pt>
                <c:pt idx="3">
                  <c:v>R3 Elevated</c:v>
                </c:pt>
                <c:pt idx="4">
                  <c:v>R4 High</c:v>
                </c:pt>
                <c:pt idx="5">
                  <c:v>R5 Critical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45</c:v>
                </c:pt>
                <c:pt idx="1">
                  <c:v>82</c:v>
                </c:pt>
                <c:pt idx="2">
                  <c:v>63</c:v>
                </c:pt>
                <c:pt idx="3">
                  <c:v>35</c:v>
                </c:pt>
                <c:pt idx="4">
                  <c:v>17</c:v>
                </c:pt>
                <c:pt idx="5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A8A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A8A8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A8A8A"/>
                </a:solidFill>
                <a:latin typeface="Arial"/>
              </a:rPr>
              <a:t>Monthly Submissions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Submissions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F5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Jan</c:v>
                  </c:pt>
                  <c:pt idx="1">
                    <c:v>Feb (1-17)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158</c:v>
                </c:pt>
                <c:pt idx="1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5F5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8A8A8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P_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P_COVER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1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3657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5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REPORT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 Publishing House — Institutional Integrity &amp; Compliance Overview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0" y="3520440"/>
            <a:ext cx="2743200" cy="18288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 |  February 17,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processes. Human decides. WINDI guarantees.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HEALTH OVERVIEW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192024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1920240" cy="36576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247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45720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Receipts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560320" y="1005840"/>
            <a:ext cx="192024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560320" y="1005840"/>
            <a:ext cx="1920240" cy="36576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1887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6032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9"/>
          <p:cNvSpPr/>
          <p:nvPr/>
        </p:nvSpPr>
        <p:spPr>
          <a:xfrm>
            <a:off x="256032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Integrity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63440" y="1005840"/>
            <a:ext cx="192024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663440" y="1005840"/>
            <a:ext cx="1920240" cy="36576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6344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466344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Drift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766560" y="1005840"/>
            <a:ext cx="192024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766560" y="1005840"/>
            <a:ext cx="1920240" cy="36576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1887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52ms</a:t>
            </a:r>
            <a:endParaRPr lang="en-US" sz="3600" dirty="0"/>
          </a:p>
        </p:txBody>
      </p:sp>
      <p:sp>
        <p:nvSpPr>
          <p:cNvPr id="24" name="Text 17"/>
          <p:cNvSpPr/>
          <p:nvPr/>
        </p:nvSpPr>
        <p:spPr>
          <a:xfrm>
            <a:off x="676656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:8080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Trinity D1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:8100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Forensic Ledger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:8101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:8102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Engine M3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:8103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WINDI Wallet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:8099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26" name="Shape 1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27" name="Shape 19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WINDI Publishing House</a:t>
            </a:r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CONFIDENTIAL</a:t>
            </a:r>
            <a:endParaRPr lang="en-US" sz="800" dirty="0"/>
          </a:p>
        </p:txBody>
      </p:sp>
      <p:sp>
        <p:nvSpPr>
          <p:cNvPr id="30" name="Text 21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DISTRIBUTION ANALYSIS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914400"/>
          <a:ext cx="3931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4754880" y="2834640"/>
            <a:ext cx="3931920" cy="1280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4754880" y="2834640"/>
            <a:ext cx="54864" cy="128016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71800"/>
            <a:ext cx="182880" cy="1828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57800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4983480" y="3246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 of all documents classified at R0-R2 risk levels. Only 2.0% classified as R5 Critical — indicating healthy governance posture.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13" name="Shape 7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WINDI Publishing House</a:t>
            </a:r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CONFIDENTIAL</a:t>
            </a:r>
            <a:endParaRPr lang="en-US" sz="800" dirty="0"/>
          </a:p>
        </p:txBody>
      </p:sp>
      <p:sp>
        <p:nvSpPr>
          <p:cNvPr id="16" name="Text 9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ARCHITECTURE STATUS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14400"/>
            <a:ext cx="4114800" cy="868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54864" cy="86868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1556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— a4Desk (Edge)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88720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SGE local processing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data sovereignty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468880" y="1783080"/>
            <a:ext cx="18288" cy="18288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1965960"/>
            <a:ext cx="4114800" cy="868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1965960"/>
            <a:ext cx="54864" cy="86868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6712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— WINDI Mesh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88720" y="2350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Controllers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orchestration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468880" y="2834640"/>
            <a:ext cx="18288" cy="18288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017520"/>
            <a:ext cx="4114800" cy="868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017520"/>
            <a:ext cx="54864" cy="868680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1868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 — Forensic Ledger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88720" y="34015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hashes, Merkle Tree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Receipts, ZK Proofs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846320" y="914400"/>
            <a:ext cx="3840480" cy="3474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46320" y="914400"/>
            <a:ext cx="38404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18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FRAMEWORK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481328"/>
            <a:ext cx="164592" cy="1645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Architecture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58952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ACTIVE</a:t>
            </a:r>
            <a:endParaRPr lang="en-US" sz="8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801368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4924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Alignment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5895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DESIGNED</a:t>
            </a:r>
            <a:endParaRPr lang="en-US" sz="8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2121408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34924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C5 Compatibility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758952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READY</a:t>
            </a:r>
            <a:endParaRPr lang="en-US" sz="8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2441448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4924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Framework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758952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PLANNED</a:t>
            </a:r>
            <a:endParaRPr lang="en-US" sz="8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2761488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349240" y="2743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Data Sovereignty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758952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ACTIVE</a:t>
            </a:r>
            <a:endParaRPr lang="en-US" sz="8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3081528"/>
            <a:ext cx="164592" cy="16459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34924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Constitutional Invariants</a:t>
            </a:r>
            <a:endParaRPr lang="en-US" sz="900" dirty="0"/>
          </a:p>
        </p:txBody>
      </p:sp>
      <p:sp>
        <p:nvSpPr>
          <p:cNvPr id="42" name="Text 30"/>
          <p:cNvSpPr/>
          <p:nvPr/>
        </p:nvSpPr>
        <p:spPr>
          <a:xfrm>
            <a:off x="7589520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ENFORCED</a:t>
            </a:r>
            <a:endParaRPr lang="en-US" sz="8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3401568"/>
            <a:ext cx="164592" cy="16459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349240" y="3383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I9 Autonomy Prohibition</a:t>
            </a:r>
            <a:endParaRPr lang="en-US" sz="900" dirty="0"/>
          </a:p>
        </p:txBody>
      </p:sp>
      <p:sp>
        <p:nvSpPr>
          <p:cNvPr id="45" name="Text 32"/>
          <p:cNvSpPr/>
          <p:nvPr/>
        </p:nvSpPr>
        <p:spPr>
          <a:xfrm>
            <a:off x="758952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IRREMEDIABLE</a:t>
            </a:r>
            <a:endParaRPr lang="en-US" sz="8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4920" y="3721608"/>
            <a:ext cx="164592" cy="16459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349240" y="3703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LAW Monitoring</a:t>
            </a:r>
            <a:endParaRPr lang="en-US" sz="900" dirty="0"/>
          </a:p>
        </p:txBody>
      </p:sp>
      <p:sp>
        <p:nvSpPr>
          <p:cNvPr id="48" name="Text 34"/>
          <p:cNvSpPr/>
          <p:nvPr/>
        </p:nvSpPr>
        <p:spPr>
          <a:xfrm>
            <a:off x="758952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</a:t>
            </a:r>
            <a:endParaRPr lang="en-US" sz="800" dirty="0"/>
          </a:p>
        </p:txBody>
      </p:sp>
      <p:sp>
        <p:nvSpPr>
          <p:cNvPr id="49" name="Shape 3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50" name="Shape 36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WINDI Publishing House</a:t>
            </a:r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CONFIDENTIAL</a:t>
            </a:r>
            <a:endParaRPr lang="en-US" sz="800" dirty="0"/>
          </a:p>
        </p:txBody>
      </p:sp>
      <p:sp>
        <p:nvSpPr>
          <p:cNvPr id="53" name="Text 38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 FORENSIC RECEIPT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 Publishing House  |  Document Integrity Proof  |  Zero-Knowledge Compliance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82880"/>
            <a:ext cx="14630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05840"/>
            <a:ext cx="640080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ID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60320" y="11887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VR-GOV-REPORT-2026Q1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Hash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0" y="1463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sha256:fc17bd076a85e3c6972b082e92380334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60320" y="17373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883c048154ebe4bf79de0b1e22345e74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560320" y="20116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2026-02-17T16:00:00Z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60320" y="22860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Entry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60320" y="2560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#247 — Chain VALID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Applied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60320" y="28346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 Publishing House — Noir Governance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560320" y="31089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Merkle Root Consistent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LAW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560320" y="33832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Invariants PASS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3840480"/>
            <a:ext cx="45720" cy="6858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31920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05840" y="39044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ZERO-KNOWLEDGE ARCHITECTURE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005840" y="4178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self-sovereign. WINDI stores the cryptographic proof (hash), never the content. Client retains full data sovereignty. Verification possible offline via hash comparison.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processes. Human decides. WINDI guarantees.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WINDI Publishing House Governance Report</dc:title>
  <dc:subject>PptxGenJS Presentation</dc:subject>
  <dc:creator>WINDI ISP PPT Engine — WINDI Publishing House</dc:creator>
  <cp:lastModifiedBy>WINDI ISP PPT Engine — WINDI Publishing House</cp:lastModifiedBy>
  <cp:revision>1</cp:revision>
  <dcterms:created xsi:type="dcterms:W3CDTF">2026-02-17T17:09:58Z</dcterms:created>
  <dcterms:modified xsi:type="dcterms:W3CDTF">2026-02-17T17:09:58Z</dcterms:modified>
</cp:coreProperties>
</file>