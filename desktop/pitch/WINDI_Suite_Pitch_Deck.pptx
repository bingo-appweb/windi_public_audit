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Suite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as Gravity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Pre-AI Governance Layer that makes institutional decisions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auditable, and sovereign.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processes.  Human decides.  WINDI guarantees.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the DNA of institutional decisions.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today, they have zero governance.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377440" cy="20116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Integrity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can be altered after signing with no trace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920240"/>
            <a:ext cx="2377440" cy="20116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without verifiable audit trails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920240"/>
            <a:ext cx="2377440" cy="20116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Barrier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tools are built for experts, not for daily work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438912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€65B  </a:t>
            </a:r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GRC Market  —  yet no product makes governance invisible for daily users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makes governance invisible — like gravity.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works. The system protects.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6949440" cy="10972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as Word. </a:t>
            </a:r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as no other product.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03120" y="2286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opens, chooses a template, works — governance happens invisibly underneath.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training. No complexity. No fear.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2377440" cy="15544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154680"/>
            <a:ext cx="2377440" cy="54864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3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govern — with templates users already know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74720" y="3154680"/>
            <a:ext cx="2377440" cy="15544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74720" y="3154680"/>
            <a:ext cx="2377440" cy="54864"/>
          </a:xfrm>
          <a:prstGeom prst="rect">
            <a:avLst/>
          </a:prstGeom>
          <a:solidFill>
            <a:srgbClr val="2173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383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Tabellen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576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with built-in risk scoring and audit trails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154680"/>
            <a:ext cx="2377440" cy="15544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3154680"/>
            <a:ext cx="2377440" cy="54864"/>
          </a:xfrm>
          <a:prstGeom prst="rect">
            <a:avLst/>
          </a:prstGeom>
          <a:solidFill>
            <a:srgbClr val="B74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83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Präsentationen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that carry institutional integrity metadata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3152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suite. One experience. Governance built 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Cathedral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experiences. One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291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57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works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interface (Guten Tag)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ISP-driven templates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runs client-side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697480" cy="3291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00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Sealing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decides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signature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cryptographic binding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 generation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371600"/>
            <a:ext cx="2697480" cy="3291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002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 Room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sees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Heatmap across org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gauge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drill-down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315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 → Sealing → War Room  |  Work → Sovereignty → Institutional Consciousness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Sealing Ritual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seconds that transform a file into an institutional truth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6949440" cy="0"/>
          </a:xfrm>
          <a:prstGeom prst="line">
            <a:avLst/>
          </a:prstGeom>
          <a:noFill/>
          <a:ln w="25400">
            <a:solidFill>
              <a:srgbClr val="8B7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947672"/>
            <a:ext cx="219456" cy="219456"/>
          </a:xfrm>
          <a:prstGeom prst="ellipse">
            <a:avLst/>
          </a:prstGeom>
          <a:solidFill>
            <a:srgbClr val="181B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signature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947672"/>
            <a:ext cx="219456" cy="219456"/>
          </a:xfrm>
          <a:prstGeom prst="ellipse">
            <a:avLst/>
          </a:prstGeom>
          <a:solidFill>
            <a:srgbClr val="181B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29968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binds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to identity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67328" y="1947672"/>
            <a:ext cx="219456" cy="219456"/>
          </a:xfrm>
          <a:prstGeom prst="ellipse">
            <a:avLst/>
          </a:prstGeom>
          <a:solidFill>
            <a:srgbClr val="181B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19856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analyzes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semantic layers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57216" y="1947672"/>
            <a:ext cx="219456" cy="219456"/>
          </a:xfrm>
          <a:prstGeom prst="ellipse">
            <a:avLst/>
          </a:prstGeom>
          <a:solidFill>
            <a:srgbClr val="181B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hash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computed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47104" y="1947672"/>
            <a:ext cx="219456" cy="219456"/>
          </a:xfrm>
          <a:prstGeom prst="ellipse">
            <a:avLst/>
          </a:prstGeom>
          <a:solidFill>
            <a:srgbClr val="181B2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9632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08192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created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36992" y="1947672"/>
            <a:ext cx="219456" cy="219456"/>
          </a:xfrm>
          <a:prstGeom prst="ellipse">
            <a:avLst/>
          </a:prstGeom>
          <a:solidFill>
            <a:srgbClr val="C9A84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versiegelt.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3383280"/>
            <a:ext cx="6949440" cy="12801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7280" y="3383280"/>
            <a:ext cx="694944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611880"/>
            <a:ext cx="411480" cy="411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92024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WINDI-RECEIPT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371600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Ed25519 Signature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657600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Hash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43600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Merkle Root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371600" y="4297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 Level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657600" y="4297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SGE Score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943600" y="4297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 Context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371600" y="4480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Paperless Signature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657600" y="4480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943600" y="4480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 ID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315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user sees only: Dokument versiegelt. And feels peace."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instruments without data. The client keeps terabytes; WINDI keeps proof.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474720" cy="29260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3474720" cy="4572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Side (a4Desk)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content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processing runs locally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on-premise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signature capture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edit history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02336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metadata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hashes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37760" y="1554480"/>
            <a:ext cx="3474720" cy="292608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554480"/>
            <a:ext cx="3474720" cy="4572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Hub (Proof Layer)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1208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categories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Receipts (proof of decisions)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 audit chain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metadata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sensitive content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Compliance: BSI C5 · ISO 27001 · EU AI Act · DSGVO  |  Hosted on German servers (Strato/Hetzner)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WINDI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1645920" cy="411480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1371600" cy="411480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365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1371600" cy="411480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Docs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097280"/>
            <a:ext cx="1371600" cy="411480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GRC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097280"/>
            <a:ext cx="137160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Suite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1508760"/>
            <a:ext cx="164592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508760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1508760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1508760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1508760"/>
            <a:ext cx="1371600" cy="384048"/>
          </a:xfrm>
          <a:prstGeom prst="rect">
            <a:avLst/>
          </a:prstGeom>
          <a:solidFill>
            <a:srgbClr val="12151F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508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1892808"/>
            <a:ext cx="164592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Governance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1892808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0" y="1892808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1892808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1892808"/>
            <a:ext cx="1371600" cy="384048"/>
          </a:xfrm>
          <a:prstGeom prst="rect">
            <a:avLst/>
          </a:prstGeom>
          <a:solidFill>
            <a:srgbClr val="181B28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892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2276856"/>
            <a:ext cx="164592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2276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Sealing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2276856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2276856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12080" y="2276856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2276856"/>
            <a:ext cx="1371600" cy="384048"/>
          </a:xfrm>
          <a:prstGeom prst="rect">
            <a:avLst/>
          </a:prstGeom>
          <a:solidFill>
            <a:srgbClr val="12151F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" y="2660904"/>
            <a:ext cx="164592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660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68880" y="2660904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47" name="Text 45"/>
          <p:cNvSpPr/>
          <p:nvPr/>
        </p:nvSpPr>
        <p:spPr>
          <a:xfrm>
            <a:off x="246888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0" y="2660904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12080" y="2660904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83680" y="2660904"/>
            <a:ext cx="1371600" cy="384048"/>
          </a:xfrm>
          <a:prstGeom prst="rect">
            <a:avLst/>
          </a:prstGeom>
          <a:solidFill>
            <a:srgbClr val="181B28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2960" y="3044952"/>
            <a:ext cx="164592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User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468880" y="3044952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57" name="Text 55"/>
          <p:cNvSpPr/>
          <p:nvPr/>
        </p:nvSpPr>
        <p:spPr>
          <a:xfrm>
            <a:off x="246888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840480" y="3044952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59" name="Text 57"/>
          <p:cNvSpPr/>
          <p:nvPr/>
        </p:nvSpPr>
        <p:spPr>
          <a:xfrm>
            <a:off x="384048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212080" y="3044952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583680" y="3044952"/>
            <a:ext cx="1371600" cy="384048"/>
          </a:xfrm>
          <a:prstGeom prst="rect">
            <a:avLst/>
          </a:prstGeom>
          <a:solidFill>
            <a:srgbClr val="12151F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3044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22960" y="3429000"/>
            <a:ext cx="164592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3429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Audit Trail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68880" y="3429000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67" name="Text 65"/>
          <p:cNvSpPr/>
          <p:nvPr/>
        </p:nvSpPr>
        <p:spPr>
          <a:xfrm>
            <a:off x="24688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840480" y="3429000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69" name="Text 67"/>
          <p:cNvSpPr/>
          <p:nvPr/>
        </p:nvSpPr>
        <p:spPr>
          <a:xfrm>
            <a:off x="38404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212080" y="3429000"/>
            <a:ext cx="1371600" cy="384048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71" name="Text 69"/>
          <p:cNvSpPr/>
          <p:nvPr/>
        </p:nvSpPr>
        <p:spPr>
          <a:xfrm>
            <a:off x="52120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583680" y="3429000"/>
            <a:ext cx="1371600" cy="384048"/>
          </a:xfrm>
          <a:prstGeom prst="rect">
            <a:avLst/>
          </a:prstGeom>
          <a:solidFill>
            <a:srgbClr val="181B28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836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22960" y="3813048"/>
            <a:ext cx="164592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3813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Ready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468880" y="3813048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77" name="Text 75"/>
          <p:cNvSpPr/>
          <p:nvPr/>
        </p:nvSpPr>
        <p:spPr>
          <a:xfrm>
            <a:off x="246888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840480" y="3813048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79" name="Text 77"/>
          <p:cNvSpPr/>
          <p:nvPr/>
        </p:nvSpPr>
        <p:spPr>
          <a:xfrm>
            <a:off x="384048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212080" y="3813048"/>
            <a:ext cx="1371600" cy="384048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83680" y="3813048"/>
            <a:ext cx="1371600" cy="384048"/>
          </a:xfrm>
          <a:prstGeom prst="rect">
            <a:avLst/>
          </a:prstGeom>
          <a:solidFill>
            <a:srgbClr val="12151F"/>
          </a:solidFill>
          <a:ln w="6350">
            <a:solidFill>
              <a:srgbClr val="8B7A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8368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22960" y="4160520"/>
            <a:ext cx="7132320" cy="68580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8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297680"/>
            <a:ext cx="365760" cy="365760"/>
          </a:xfrm>
          <a:prstGeom prst="rect">
            <a:avLst/>
          </a:prstGeom>
        </p:spPr>
      </p:pic>
      <p:sp>
        <p:nvSpPr>
          <p:cNvPr id="86" name="Text 83"/>
          <p:cNvSpPr/>
          <p:nvPr/>
        </p:nvSpPr>
        <p:spPr>
          <a:xfrm>
            <a:off x="1554480" y="4160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doesn't replace SAP — it guarantees SAP. </a:t>
            </a:r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process management; decision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charge per protected decision, not per stored byte.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2606040" cy="31089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pPr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2194560" cy="0"/>
          </a:xfrm>
          <a:prstGeom prst="line">
            <a:avLst/>
          </a:prstGeom>
          <a:noFill/>
          <a:ln w="6350">
            <a:solidFill>
              <a:srgbClr val="555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templates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scoring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sealing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463040"/>
            <a:ext cx="2606040" cy="31089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€25-40</a:t>
            </a:r>
            <a:pPr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2788920"/>
            <a:ext cx="2194560" cy="0"/>
          </a:xfrm>
          <a:prstGeom prst="line">
            <a:avLst/>
          </a:prstGeom>
          <a:noFill/>
          <a:ln w="6350">
            <a:solidFill>
              <a:srgbClr val="555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ISP library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Ledger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2606040" cy="31089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46304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€80-120</a:t>
            </a:r>
            <a:pPr indent="0" marL="0">
              <a:buNone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/user/mo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4652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Organization-wide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788920"/>
            <a:ext cx="2194560" cy="0"/>
          </a:xfrm>
          <a:prstGeom prst="line">
            <a:avLst/>
          </a:prstGeom>
          <a:noFill/>
          <a:ln w="6350">
            <a:solidFill>
              <a:srgbClr val="5558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ISP creation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governance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success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"Sophisticated Humility: AI suggests, human decides."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737360" cy="1005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737360" cy="1005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737360" cy="1005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737360" cy="100584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43200"/>
            <a:ext cx="1737360" cy="1737360"/>
          </a:xfrm>
          <a:prstGeom prst="rect">
            <a:avLst/>
          </a:prstGeom>
          <a:solidFill>
            <a:srgbClr val="181B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743200"/>
            <a:ext cx="17373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00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MVP launch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enterprise pilot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Factory v2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743200"/>
            <a:ext cx="1737360" cy="17373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2743200"/>
            <a:ext cx="1737360" cy="45720"/>
          </a:xfrm>
          <a:prstGeom prst="rect">
            <a:avLst/>
          </a:prstGeom>
          <a:solidFill>
            <a:srgbClr val="555870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3200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module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public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Index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1737360" cy="17373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43200"/>
            <a:ext cx="1737360" cy="45720"/>
          </a:xfrm>
          <a:prstGeom prst="rect">
            <a:avLst/>
          </a:prstGeom>
          <a:solidFill>
            <a:srgbClr val="55587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200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Präsentationen module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governance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marketplace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743200"/>
            <a:ext cx="1737360" cy="1737360"/>
          </a:xfrm>
          <a:prstGeom prst="rect">
            <a:avLst/>
          </a:prstGeom>
          <a:solidFill>
            <a:srgbClr val="181B2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2743200"/>
            <a:ext cx="1737360" cy="45720"/>
          </a:xfrm>
          <a:prstGeom prst="rect">
            <a:avLst/>
          </a:prstGeom>
          <a:solidFill>
            <a:srgbClr val="555870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3200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View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deployed on German servers · EU-compliant · Production-grade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73152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731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reinventing the Office.
</a:t>
            </a:r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reinventing digital responsibility.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did it without scaring anyone.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822960"/>
          </a:xfrm>
          <a:prstGeom prst="rect">
            <a:avLst/>
          </a:prstGeom>
          <a:solidFill>
            <a:srgbClr val="181B2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Publishing House · Kempten, Bavaria, Germany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windia4desk.online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5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processes.  Human decides.  WINDI guarantees.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WINDI Suite - Governance as Gravity</dc:title>
  <dc:subject>PptxGenJS Presentation</dc:subject>
  <dc:creator>WINDI Publishing House</dc:creator>
  <cp:lastModifiedBy>WINDI Publishing House</cp:lastModifiedBy>
  <cp:revision>1</cp:revision>
  <dcterms:created xsi:type="dcterms:W3CDTF">2026-02-16T12:55:09Z</dcterms:created>
  <dcterms:modified xsi:type="dcterms:W3CDTF">2026-02-16T12:55:09Z</dcterms:modified>
</cp:coreProperties>
</file>