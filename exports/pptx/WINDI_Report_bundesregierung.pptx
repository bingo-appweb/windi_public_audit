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1C40F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R0 Minimal</c:v>
                </c:pt>
                <c:pt idx="1">
                  <c:v>R1 Low</c:v>
                </c:pt>
                <c:pt idx="2">
                  <c:v>R2 Moderate</c:v>
                </c:pt>
                <c:pt idx="3">
                  <c:v>R3 Elevated</c:v>
                </c:pt>
                <c:pt idx="4">
                  <c:v>R4 High</c:v>
                </c:pt>
                <c:pt idx="5">
                  <c:v>R5 Critical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82</c:v>
                </c:pt>
                <c:pt idx="2">
                  <c:v>63</c:v>
                </c:pt>
                <c:pt idx="3">
                  <c:v>35</c:v>
                </c:pt>
                <c:pt idx="4">
                  <c:v>17</c:v>
                </c:pt>
                <c:pt idx="5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A6A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6A7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A6A7A"/>
                </a:solidFill>
                <a:latin typeface="Arial"/>
              </a:rPr>
              <a:t>Monthly Submissions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</c:v>
                </c:pt>
              </c:strCache>
            </c:strRef>
          </c:tx>
          <c:spPr>
            <a:solidFill>
              <a:srgbClr val="003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</c:v>
                  </c:pt>
                  <c:pt idx="1">
                    <c:v>Feb (1-17)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158</c:v>
                </c:pt>
                <c:pt idx="1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A6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ED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P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P_COVER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657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500" kern="0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REPORT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Bundesregierung — Institutional Integrity &amp; Compliance Overview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18288"/>
          </a:xfrm>
          <a:prstGeom prst="rect">
            <a:avLst/>
          </a:prstGeom>
          <a:solidFill>
            <a:srgbClr val="5A6A7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|  February 17,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processes. Human decides. WINDI guarantees.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7"/>
          <p:cNvSpPr/>
          <p:nvPr/>
        </p:nvSpPr>
        <p:spPr>
          <a:xfrm rot="-1800000">
            <a:off x="1828800" y="18288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5A6A7A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VERTRAULICH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HEALTH OVERVIEW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Receipts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0" y="1005840"/>
            <a:ext cx="1920240" cy="146304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2D8A4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88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0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Integrity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1005840"/>
            <a:ext cx="1920240" cy="146304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Drift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66560" y="1005840"/>
            <a:ext cx="1920240" cy="146304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887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52ms</a:t>
            </a:r>
            <a:endParaRPr lang="en-US" sz="3600" dirty="0"/>
          </a:p>
        </p:txBody>
      </p:sp>
      <p:sp>
        <p:nvSpPr>
          <p:cNvPr id="24" name="Text 17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A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:8080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Trinity D1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A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Ledger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A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A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Engine 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A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WINDI Wallet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A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:8099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6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26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7" name="Shape 19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Bundesregierung</a:t>
            </a:r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RESTRICTED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DISTRIBUTION ANALYSIS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00336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754880" y="2834640"/>
            <a:ext cx="3931920" cy="128016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4754880" y="2834640"/>
            <a:ext cx="54864" cy="128016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578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98348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 of all documents classified at R0-R2 risk levels. Only 2.0% classified as R5 Critical — indicating healthy governance posture.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3" name="Shape 7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Bundesregierung</a:t>
            </a:r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RESTRICTED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ARCHITECTURE STATUS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14400"/>
            <a:ext cx="4114800" cy="8686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868680"/>
          </a:xfrm>
          <a:prstGeom prst="rect">
            <a:avLst/>
          </a:prstGeom>
          <a:solidFill>
            <a:srgbClr val="FFCC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— a4Desk (Edge)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8872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local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sovereignty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68880" y="1783080"/>
            <a:ext cx="18288" cy="182880"/>
          </a:xfrm>
          <a:prstGeom prst="rect">
            <a:avLst/>
          </a:prstGeom>
          <a:solidFill>
            <a:srgbClr val="5A6A7A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1965960"/>
            <a:ext cx="4114800" cy="8686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965960"/>
            <a:ext cx="54864" cy="86868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6712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— WINDI Mesh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88720" y="2350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Controllers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orchestration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468880" y="2834640"/>
            <a:ext cx="18288" cy="182880"/>
          </a:xfrm>
          <a:prstGeom prst="rect">
            <a:avLst/>
          </a:prstGeom>
          <a:solidFill>
            <a:srgbClr val="5A6A7A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017520"/>
            <a:ext cx="4114800" cy="8686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2D8A4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1868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— Forensic Ledger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88720" y="3401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hashes, Merkle Tree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Receipts, ZK Proofs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914400"/>
            <a:ext cx="384048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FRAMEWORK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481328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Architecture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58952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80136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Alignment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89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121408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4924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C5 Compatibility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5895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441448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Framework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75895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</a:t>
            </a:r>
            <a:endParaRPr lang="en-US" sz="8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761488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34924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Sovereignty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7589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081528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34924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Constitutional Invariants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758952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</a:t>
            </a:r>
            <a:endParaRPr lang="en-US" sz="8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401568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34924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I9 Autonomy Prohibition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758952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IRREMEDIABLE</a:t>
            </a:r>
            <a:endParaRPr lang="en-US" sz="8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721608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34924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LAW Monitoring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50" name="Shape 36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Bundesregierung</a:t>
            </a:r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RESTRICTED</a:t>
            </a:r>
            <a:endParaRPr lang="en-US" sz="800" dirty="0"/>
          </a:p>
        </p:txBody>
      </p:sp>
      <p:sp>
        <p:nvSpPr>
          <p:cNvPr id="53" name="Text 3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FORENSIC RECEIPT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Bundesregierung  |  Document Integrity Proof  |  Zero-Knowledge Compliance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6400800" cy="1371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ID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0" y="1188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VR-GOV-REPORT-2026Q1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Hash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0" y="1463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sha256:06f9737d468e937225bee02e13300955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c8452bcb6cd7143c2770b2d6283f6a33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0" y="20116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2026-02-17T16:00:00Z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0" y="2286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#247 — Chain VALID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Applied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60320" y="2834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Bundesregierung — Federal Government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560320" y="3108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Merkle Root Consistent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LAW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60320" y="3383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Invariants PASS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840480"/>
            <a:ext cx="45720" cy="68580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3192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05840" y="3904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ZERO-KNOWLEDGE ARCHITECTURE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05840" y="4178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self-sovereign. WINDI stores the cryptographic proof (hash), never the content. Client retains full data sovereignty. Verification possible offline via hash comparison.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processes. Human decides. WINDI guarantees.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Bundesregierung Governance Report</dc:title>
  <dc:subject>PptxGenJS Presentation</dc:subject>
  <dc:creator>WINDI ISP PPT Engine — Bundesregierung</dc:creator>
  <cp:lastModifiedBy>WINDI ISP PPT Engine — Bundesregierung</cp:lastModifiedBy>
  <cp:revision>1</cp:revision>
  <dcterms:created xsi:type="dcterms:W3CDTF">2026-02-17T17:09:58Z</dcterms:created>
  <dcterms:modified xsi:type="dcterms:W3CDTF">2026-02-17T17:09:58Z</dcterms:modified>
</cp:coreProperties>
</file>