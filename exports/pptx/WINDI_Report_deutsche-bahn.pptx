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Levels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F1C40F"/>
              </a:solidFill>
              <a:effectLst/>
            </c:spPr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282D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282D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282D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282D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282D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282D3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R0 Minimal</c:v>
                </c:pt>
                <c:pt idx="1">
                  <c:v>R1 Low</c:v>
                </c:pt>
                <c:pt idx="2">
                  <c:v>R2 Moderate</c:v>
                </c:pt>
                <c:pt idx="3">
                  <c:v>R3 Elevated</c:v>
                </c:pt>
                <c:pt idx="4">
                  <c:v>R4 High</c:v>
                </c:pt>
                <c:pt idx="5">
                  <c:v>R5 Critical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45</c:v>
                </c:pt>
                <c:pt idx="1">
                  <c:v>82</c:v>
                </c:pt>
                <c:pt idx="2">
                  <c:v>63</c:v>
                </c:pt>
                <c:pt idx="3">
                  <c:v>35</c:v>
                </c:pt>
                <c:pt idx="4">
                  <c:v>17</c:v>
                </c:pt>
                <c:pt idx="5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697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6973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6973"/>
                </a:solidFill>
                <a:latin typeface="Arial"/>
              </a:rPr>
              <a:t>Monthly Submissions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Submissions</c:v>
                </c:pt>
              </c:strCache>
            </c:strRef>
          </c:tx>
          <c:spPr>
            <a:solidFill>
              <a:srgbClr val="EC00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82D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Jan</c:v>
                  </c:pt>
                  <c:pt idx="1">
                    <c:v>Feb (1-17)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158</c:v>
                </c:pt>
                <c:pt idx="1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82D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69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64697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69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3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P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P_COVER">
    <p:bg>
      <p:bgPr>
        <a:solidFill>
          <a:srgbClr val="F0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1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00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3657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500" kern="0" dirty="0">
                <a:solidFill>
                  <a:srgbClr val="EC0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REPORT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Deutsche Bahn AG — Institutional Integrity &amp; Compliance Overview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0" y="3520440"/>
            <a:ext cx="2743200" cy="18288"/>
          </a:xfrm>
          <a:prstGeom prst="rect">
            <a:avLst/>
          </a:prstGeom>
          <a:solidFill>
            <a:srgbClr val="64697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 |  February 17,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69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processes. Human decides. WINDI guarantees.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001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0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HEALTH OVERVIEW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EC0016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1920240" cy="1463040"/>
          </a:xfrm>
          <a:prstGeom prst="rect">
            <a:avLst/>
          </a:prstGeom>
          <a:solidFill>
            <a:srgbClr val="F0F3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1920240" cy="36576"/>
          </a:xfrm>
          <a:prstGeom prst="rect">
            <a:avLst/>
          </a:prstGeom>
          <a:solidFill>
            <a:srgbClr val="EC001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2D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247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45720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Receipts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560320" y="1005840"/>
            <a:ext cx="1920240" cy="1463040"/>
          </a:xfrm>
          <a:prstGeom prst="rect">
            <a:avLst/>
          </a:prstGeom>
          <a:solidFill>
            <a:srgbClr val="F0F3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60320" y="1005840"/>
            <a:ext cx="1920240" cy="36576"/>
          </a:xfrm>
          <a:prstGeom prst="rect">
            <a:avLst/>
          </a:prstGeom>
          <a:solidFill>
            <a:srgbClr val="40833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1887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032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2D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9"/>
          <p:cNvSpPr/>
          <p:nvPr/>
        </p:nvSpPr>
        <p:spPr>
          <a:xfrm>
            <a:off x="256032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Integrity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63440" y="1005840"/>
            <a:ext cx="1920240" cy="1463040"/>
          </a:xfrm>
          <a:prstGeom prst="rect">
            <a:avLst/>
          </a:prstGeom>
          <a:solidFill>
            <a:srgbClr val="F0F3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663440" y="1005840"/>
            <a:ext cx="1920240" cy="36576"/>
          </a:xfrm>
          <a:prstGeom prst="rect">
            <a:avLst/>
          </a:prstGeom>
          <a:solidFill>
            <a:srgbClr val="EC001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634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2D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466344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Drift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766560" y="1005840"/>
            <a:ext cx="1920240" cy="1463040"/>
          </a:xfrm>
          <a:prstGeom prst="rect">
            <a:avLst/>
          </a:prstGeom>
          <a:solidFill>
            <a:srgbClr val="F0F3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766560" y="1005840"/>
            <a:ext cx="1920240" cy="36576"/>
          </a:xfrm>
          <a:prstGeom prst="rect">
            <a:avLst/>
          </a:prstGeom>
          <a:solidFill>
            <a:srgbClr val="EC001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1887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2D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52ms</a:t>
            </a:r>
            <a:endParaRPr lang="en-US" sz="3600" dirty="0"/>
          </a:p>
        </p:txBody>
      </p:sp>
      <p:sp>
        <p:nvSpPr>
          <p:cNvPr id="24" name="Text 17"/>
          <p:cNvSpPr/>
          <p:nvPr/>
        </p:nvSpPr>
        <p:spPr>
          <a:xfrm>
            <a:off x="676656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Latency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C00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D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C00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D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C00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2D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D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 API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697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:8080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83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D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Desktop Trinity D1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697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:8100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83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D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Forensic Ledger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697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:8101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83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D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 LAW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697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:8102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83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D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Engine M3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697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:8103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83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82D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WINDI Wallet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697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:8099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083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69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5"/>
                    </a:solidFill>
                  </a:tcPr>
                </a:tc>
              </a:tr>
            </a:tbl>
          </a:graphicData>
        </a:graphic>
      </p:graphicFrame>
      <p:sp>
        <p:nvSpPr>
          <p:cNvPr id="26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27" name="Shape 19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EC0016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0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Deutsche Bahn AG</a:t>
            </a:r>
            <a:pPr indent="0" marL="0">
              <a:buNone/>
            </a:pPr>
            <a:r>
              <a:rPr lang="en-US" sz="7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INTERNAL</a:t>
            </a: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0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DISTRIBUTION ANALYSIS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EC0016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914400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754880" y="2834640"/>
            <a:ext cx="3931920" cy="1280160"/>
          </a:xfrm>
          <a:prstGeom prst="rect">
            <a:avLst/>
          </a:prstGeom>
          <a:solidFill>
            <a:srgbClr val="F0F3F5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4754880" y="2834640"/>
            <a:ext cx="54864" cy="1280160"/>
          </a:xfrm>
          <a:prstGeom prst="rect">
            <a:avLst/>
          </a:prstGeom>
          <a:solidFill>
            <a:srgbClr val="EC001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71800"/>
            <a:ext cx="182880" cy="1828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57800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0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4983480" y="3246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91.1% of all documents classified at R0-R2 risk levels. Only 2.0% classified as R5 Critical — indicating healthy governance posture.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13" name="Shape 7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EC001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0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Deutsche Bahn AG</a:t>
            </a:r>
            <a:pPr indent="0" marL="0">
              <a:buNone/>
            </a:pPr>
            <a:r>
              <a:rPr lang="en-US" sz="7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INTERNAL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0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&amp; ARCHITECTURE STATUS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EC0016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14400"/>
            <a:ext cx="4114800" cy="868680"/>
          </a:xfrm>
          <a:prstGeom prst="rect">
            <a:avLst/>
          </a:prstGeom>
          <a:solidFill>
            <a:srgbClr val="F0F3F5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54864" cy="868680"/>
          </a:xfrm>
          <a:prstGeom prst="rect">
            <a:avLst/>
          </a:prstGeom>
          <a:solidFill>
            <a:srgbClr val="EC001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1556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D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 — a4Desk (Edge)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88720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SGE local processing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data sovereignty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468880" y="1783080"/>
            <a:ext cx="18288" cy="182880"/>
          </a:xfrm>
          <a:prstGeom prst="rect">
            <a:avLst/>
          </a:prstGeom>
          <a:solidFill>
            <a:srgbClr val="646973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1965960"/>
            <a:ext cx="4114800" cy="868680"/>
          </a:xfrm>
          <a:prstGeom prst="rect">
            <a:avLst/>
          </a:prstGeom>
          <a:solidFill>
            <a:srgbClr val="F0F3F5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965960"/>
            <a:ext cx="54864" cy="868680"/>
          </a:xfrm>
          <a:prstGeom prst="rect">
            <a:avLst/>
          </a:prstGeom>
          <a:solidFill>
            <a:srgbClr val="EC001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6712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D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 — WINDI Mesh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88720" y="2350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Controllers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orchestration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468880" y="2834640"/>
            <a:ext cx="18288" cy="182880"/>
          </a:xfrm>
          <a:prstGeom prst="rect">
            <a:avLst/>
          </a:prstGeom>
          <a:solidFill>
            <a:srgbClr val="646973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017520"/>
            <a:ext cx="4114800" cy="868680"/>
          </a:xfrm>
          <a:prstGeom prst="rect">
            <a:avLst/>
          </a:prstGeom>
          <a:solidFill>
            <a:srgbClr val="F0F3F5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017520"/>
            <a:ext cx="54864" cy="868680"/>
          </a:xfrm>
          <a:prstGeom prst="rect">
            <a:avLst/>
          </a:prstGeom>
          <a:solidFill>
            <a:srgbClr val="4083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1868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D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 — Forensic Ledger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88720" y="34015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hashes, Merkle Tree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Virtue Receipts, ZK Proofs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846320" y="914400"/>
            <a:ext cx="3840480" cy="3474720"/>
          </a:xfrm>
          <a:prstGeom prst="rect">
            <a:avLst/>
          </a:prstGeom>
          <a:solidFill>
            <a:srgbClr val="F0F3F5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46320" y="914400"/>
            <a:ext cx="3840480" cy="36576"/>
          </a:xfrm>
          <a:prstGeom prst="rect">
            <a:avLst/>
          </a:prstGeom>
          <a:solidFill>
            <a:srgbClr val="EC0016"/>
          </a:solidFill>
          <a:ln/>
        </p:spPr>
      </p:sp>
      <p:sp>
        <p:nvSpPr>
          <p:cNvPr id="24" name="Text 18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0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FRAMEWORK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481328"/>
            <a:ext cx="164592" cy="1645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Zero-Knowledge Architecture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58952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08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8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801368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4924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Alignment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895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08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DESIGNED</a:t>
            </a:r>
            <a:endParaRPr lang="en-US" sz="8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2121408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34924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 C5 Compatibility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758952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08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8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2441448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4924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 Framework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758952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08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PLANNED</a:t>
            </a:r>
            <a:endParaRPr lang="en-US" sz="8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2761488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349240" y="2743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Data Sovereignty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758952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08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8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3081528"/>
            <a:ext cx="164592" cy="16459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34924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Constitutional Invariants</a:t>
            </a:r>
            <a:endParaRPr lang="en-US" sz="900" dirty="0"/>
          </a:p>
        </p:txBody>
      </p:sp>
      <p:sp>
        <p:nvSpPr>
          <p:cNvPr id="42" name="Text 30"/>
          <p:cNvSpPr/>
          <p:nvPr/>
        </p:nvSpPr>
        <p:spPr>
          <a:xfrm>
            <a:off x="7589520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08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ENFORCED</a:t>
            </a:r>
            <a:endParaRPr lang="en-US" sz="8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3401568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349240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I9 Autonomy Prohibition</a:t>
            </a:r>
            <a:endParaRPr lang="en-US" sz="900" dirty="0"/>
          </a:p>
        </p:txBody>
      </p:sp>
      <p:sp>
        <p:nvSpPr>
          <p:cNvPr id="45" name="Text 32"/>
          <p:cNvSpPr/>
          <p:nvPr/>
        </p:nvSpPr>
        <p:spPr>
          <a:xfrm>
            <a:off x="758952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08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IRREMEDIABLE</a:t>
            </a:r>
            <a:endParaRPr lang="en-US" sz="8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4920" y="3721608"/>
            <a:ext cx="164592" cy="16459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349240" y="3703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LAW Monitoring</a:t>
            </a:r>
            <a:endParaRPr lang="en-US" sz="900" dirty="0"/>
          </a:p>
        </p:txBody>
      </p:sp>
      <p:sp>
        <p:nvSpPr>
          <p:cNvPr id="48" name="Text 34"/>
          <p:cNvSpPr/>
          <p:nvPr/>
        </p:nvSpPr>
        <p:spPr>
          <a:xfrm>
            <a:off x="758952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083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800" dirty="0"/>
          </a:p>
        </p:txBody>
      </p:sp>
      <p:sp>
        <p:nvSpPr>
          <p:cNvPr id="49" name="Shape 3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F0F3F5"/>
          </a:solidFill>
          <a:ln/>
        </p:spPr>
      </p:sp>
      <p:sp>
        <p:nvSpPr>
          <p:cNvPr id="50" name="Shape 36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EC0016"/>
          </a:solidFill>
          <a:ln/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C0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Deutsche Bahn AG</a:t>
            </a:r>
            <a:pPr indent="0" marL="0">
              <a:buNone/>
            </a:pPr>
            <a:r>
              <a:rPr lang="en-US" sz="7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INTERNAL</a:t>
            </a:r>
            <a:endParaRPr lang="en-US" sz="800" dirty="0"/>
          </a:p>
        </p:txBody>
      </p:sp>
      <p:sp>
        <p:nvSpPr>
          <p:cNvPr id="53" name="Text 38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C00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0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WINDI FORENSIC RECEIPT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Deutsche Bahn AG  |  Document Integrity Proof  |  Zero-Knowledge Compliance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8288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05840"/>
            <a:ext cx="6400800" cy="13716"/>
          </a:xfrm>
          <a:prstGeom prst="rect">
            <a:avLst/>
          </a:prstGeom>
          <a:solidFill>
            <a:srgbClr val="EC001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ID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60320" y="11887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VR-GOV-REPORT-2026Q1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Hash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0" y="1463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sha256:9ce1ef1925bda6e964bfe7e146d11534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60320" y="17373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4ce90489f3f56894e9155e477fc81888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60320" y="20116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2026-02-17T16:00:00Z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60320" y="2286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08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Entry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60320" y="2560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#247 — Chain VALID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ISP Applied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60320" y="2834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Deutsche Bahn AG — DB Corporate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560320" y="31089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2D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— Merkle Root Consistent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3566160"/>
            <a:ext cx="8229600" cy="685800"/>
          </a:xfrm>
          <a:prstGeom prst="rect">
            <a:avLst/>
          </a:prstGeom>
          <a:solidFill>
            <a:srgbClr val="F0F3F5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566160"/>
            <a:ext cx="45720" cy="685800"/>
          </a:xfrm>
          <a:prstGeom prst="rect">
            <a:avLst/>
          </a:prstGeom>
          <a:solidFill>
            <a:srgbClr val="EC0016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57600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05840" y="3630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0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ZERO-KNOWLEDGE ARCHITECTURE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005840" y="3904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6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 is self-sovereign. WINDI stores the cryptographic proof (hash), never the content. Client retains full data sovereignty. Verification possible offline via hash comparison.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69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processes. Human decides. WINDI guarantees.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C001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Deutsche Bahn AG Governance Report</dc:title>
  <dc:subject>PptxGenJS Presentation</dc:subject>
  <dc:creator>WINDI ISP PPT Engine — Deutsche Bahn AG</dc:creator>
  <cp:lastModifiedBy>WINDI ISP PPT Engine — Deutsche Bahn AG</cp:lastModifiedBy>
  <cp:revision>1</cp:revision>
  <dcterms:created xsi:type="dcterms:W3CDTF">2026-02-17T17:09:58Z</dcterms:created>
  <dcterms:modified xsi:type="dcterms:W3CDTF">2026-02-17T17:09:58Z</dcterms:modified>
</cp:coreProperties>
</file>