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 Levels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CC71"/>
              </a:solidFill>
              <a:effectLst/>
            </c:spPr>
          </c:dPt>
          <c:dPt>
            <c:idx val="1"/>
            <c:bubble3D val="0"/>
            <c:spPr>
              <a:solidFill>
                <a:srgbClr val="27AE60"/>
              </a:solidFill>
              <a:effectLst/>
            </c:spPr>
          </c:dPt>
          <c:dPt>
            <c:idx val="2"/>
            <c:bubble3D val="0"/>
            <c:spPr>
              <a:solidFill>
                <a:srgbClr val="F1C40F"/>
              </a:solidFill>
              <a:effectLst/>
            </c:spPr>
          </c:dPt>
          <c:dPt>
            <c:idx val="3"/>
            <c:bubble3D val="0"/>
            <c:spPr>
              <a:solidFill>
                <a:srgbClr val="F39C12"/>
              </a:solidFill>
              <a:effectLst/>
            </c:spPr>
          </c:dPt>
          <c:dPt>
            <c:idx val="4"/>
            <c:bubble3D val="0"/>
            <c:spPr>
              <a:solidFill>
                <a:srgbClr val="E67E22"/>
              </a:solidFill>
              <a:effectLst/>
            </c:spPr>
          </c:dPt>
          <c:dPt>
            <c:idx val="5"/>
            <c:bubble3D val="0"/>
            <c:spPr>
              <a:solidFill>
                <a:srgbClr val="E74C3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5F5F5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5F5F5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5F5F5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5F5F5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5F5F5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5F5F5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R0 Minimal</c:v>
                </c:pt>
                <c:pt idx="1">
                  <c:v>R1 Low</c:v>
                </c:pt>
                <c:pt idx="2">
                  <c:v>R2 Moderate</c:v>
                </c:pt>
                <c:pt idx="3">
                  <c:v>R3 Elevated</c:v>
                </c:pt>
                <c:pt idx="4">
                  <c:v>R4 High</c:v>
                </c:pt>
                <c:pt idx="5">
                  <c:v>R5 Critical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45</c:v>
                </c:pt>
                <c:pt idx="1">
                  <c:v>82</c:v>
                </c:pt>
                <c:pt idx="2">
                  <c:v>63</c:v>
                </c:pt>
                <c:pt idx="3">
                  <c:v>35</c:v>
                </c:pt>
                <c:pt idx="4">
                  <c:v>17</c:v>
                </c:pt>
                <c:pt idx="5">
                  <c:v>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solidFill>
                <a:srgbClr val="B0B0B0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A08730"/>
                </a:solidFill>
                <a:latin typeface="Arial"/>
              </a:defRPr>
            </a:pPr>
            <a:r>
              <a:rPr sz="1000" b="0" i="0" u="none" strike="noStrike">
                <a:solidFill>
                  <a:srgbClr val="A08730"/>
                </a:solidFill>
                <a:latin typeface="Arial"/>
              </a:rPr>
              <a:t>Monthly Submissions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Submissions</c:v>
                </c:pt>
              </c:strCache>
            </c:strRef>
          </c:tx>
          <c:spPr>
            <a:solidFill>
              <a:srgbClr val="D4AF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5F5F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Jan</c:v>
                  </c:pt>
                  <c:pt idx="1">
                    <c:v>Feb (1-17)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158</c:v>
                </c:pt>
                <c:pt idx="1">
                  <c:v>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5F5F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0B0B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4A4A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0B0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13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3" Type="http://schemas.openxmlformats.org/officeDocument/2006/relationships/chart" Target="/ppt/charts/chart2.xml"/><Relationship Id="rId1" Type="http://schemas.openxmlformats.org/officeDocument/2006/relationships/image" Target="../media/image-3-1.png"/><Relationship Id="rId4" Type="http://schemas.openxmlformats.org/officeDocument/2006/relationships/image" Target="../media/image-3-2.png"/><Relationship Id="rId5" Type="http://schemas.openxmlformats.org/officeDocument/2006/relationships/image" Target="../media/image-3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0" y="36576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600" kern="0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REPORT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Integrity &amp; Compliance Overview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0" y="3520440"/>
            <a:ext cx="2743200" cy="18288"/>
          </a:xfrm>
          <a:prstGeom prst="rect">
            <a:avLst/>
          </a:prstGeom>
          <a:solidFill>
            <a:srgbClr val="A08730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  |  February 17, 2026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8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processes. Human decides. WINDI guarantees.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560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FORENSIC LEDGER HEALTH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57200" y="685800"/>
            <a:ext cx="8229600" cy="13716"/>
          </a:xfrm>
          <a:prstGeom prst="rect">
            <a:avLst/>
          </a:prstGeom>
          <a:solidFill>
            <a:srgbClr val="A08730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1005840"/>
            <a:ext cx="1920240" cy="14630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1920240" cy="36576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8872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247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457200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Receipts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560320" y="1005840"/>
            <a:ext cx="1920240" cy="14630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560320" y="1005840"/>
            <a:ext cx="1920240" cy="36576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118872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56032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600" dirty="0"/>
          </a:p>
        </p:txBody>
      </p:sp>
      <p:sp>
        <p:nvSpPr>
          <p:cNvPr id="14" name="Text 9"/>
          <p:cNvSpPr/>
          <p:nvPr/>
        </p:nvSpPr>
        <p:spPr>
          <a:xfrm>
            <a:off x="2560320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Integrity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663440" y="1005840"/>
            <a:ext cx="1920240" cy="14630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663440" y="1005840"/>
            <a:ext cx="1920240" cy="36576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18872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66344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19" name="Text 13"/>
          <p:cNvSpPr/>
          <p:nvPr/>
        </p:nvSpPr>
        <p:spPr>
          <a:xfrm>
            <a:off x="4663440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Drift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6766560" y="1005840"/>
            <a:ext cx="1920240" cy="146304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508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766560" y="1005840"/>
            <a:ext cx="1920240" cy="36576"/>
          </a:xfrm>
          <a:prstGeom prst="rect">
            <a:avLst/>
          </a:prstGeom>
          <a:solidFill>
            <a:srgbClr val="1ABC9C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0" y="11887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766560" y="1508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52ms</a:t>
            </a:r>
            <a:endParaRPr lang="en-US" sz="3600" dirty="0"/>
          </a:p>
        </p:txBody>
      </p:sp>
      <p:sp>
        <p:nvSpPr>
          <p:cNvPr id="24" name="Text 17"/>
          <p:cNvSpPr/>
          <p:nvPr/>
        </p:nvSpPr>
        <p:spPr>
          <a:xfrm>
            <a:off x="6766560" y="2057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P95 Latency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45720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08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STATUS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63240"/>
          <a:ext cx="50292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6459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4AF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API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0B0B0"/>
                          </a:solidFill>
                          <a:latin typeface="JetBrains Mono,Consolas" pitchFamily="34" charset="0"/>
                          <a:ea typeface="JetBrains Mono,Consolas" pitchFamily="34" charset="-122"/>
                          <a:cs typeface="JetBrains Mono,Consolas" pitchFamily="34" charset="-120"/>
                        </a:rPr>
                        <a:t>:8080</a:t>
                      </a:r>
                      <a:endParaRPr lang="en-US" sz="900" dirty="0">
                        <a:latin typeface="JetBrains Mono,Consolas" charset="0"/>
                        <a:ea typeface="JetBrains Mono,Consolas" charset="0"/>
                        <a:cs typeface="JetBrains Mono,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Trinity D1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0B0B0"/>
                          </a:solidFill>
                          <a:latin typeface="JetBrains Mono,Consolas" pitchFamily="34" charset="0"/>
                          <a:ea typeface="JetBrains Mono,Consolas" pitchFamily="34" charset="-122"/>
                          <a:cs typeface="JetBrains Mono,Consolas" pitchFamily="34" charset="-120"/>
                        </a:rPr>
                        <a:t>:8100</a:t>
                      </a:r>
                      <a:endParaRPr lang="en-US" sz="900" dirty="0">
                        <a:latin typeface="JetBrains Mono,Consolas" charset="0"/>
                        <a:ea typeface="JetBrains Mono,Consolas" charset="0"/>
                        <a:cs typeface="JetBrains Mono,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Forensic Ledger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0B0B0"/>
                          </a:solidFill>
                          <a:latin typeface="JetBrains Mono,Consolas" pitchFamily="34" charset="0"/>
                          <a:ea typeface="JetBrains Mono,Consolas" pitchFamily="34" charset="-122"/>
                          <a:cs typeface="JetBrains Mono,Consolas" pitchFamily="34" charset="-120"/>
                        </a:rPr>
                        <a:t>:8101</a:t>
                      </a:r>
                      <a:endParaRPr lang="en-US" sz="900" dirty="0">
                        <a:latin typeface="JetBrains Mono,Consolas" charset="0"/>
                        <a:ea typeface="JetBrains Mono,Consolas" charset="0"/>
                        <a:cs typeface="JetBrains Mono,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 LAW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0B0B0"/>
                          </a:solidFill>
                          <a:latin typeface="JetBrains Mono,Consolas" pitchFamily="34" charset="0"/>
                          <a:ea typeface="JetBrains Mono,Consolas" pitchFamily="34" charset="-122"/>
                          <a:cs typeface="JetBrains Mono,Consolas" pitchFamily="34" charset="-120"/>
                        </a:rPr>
                        <a:t>:8102</a:t>
                      </a:r>
                      <a:endParaRPr lang="en-US" sz="900" dirty="0">
                        <a:latin typeface="JetBrains Mono,Consolas" charset="0"/>
                        <a:ea typeface="JetBrains Mono,Consolas" charset="0"/>
                        <a:cs typeface="JetBrains Mono,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Engine M3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0B0B0"/>
                          </a:solidFill>
                          <a:latin typeface="JetBrains Mono,Consolas" pitchFamily="34" charset="0"/>
                          <a:ea typeface="JetBrains Mono,Consolas" pitchFamily="34" charset="-122"/>
                          <a:cs typeface="JetBrains Mono,Consolas" pitchFamily="34" charset="-120"/>
                        </a:rPr>
                        <a:t>:8103</a:t>
                      </a:r>
                      <a:endParaRPr lang="en-US" sz="900" dirty="0">
                        <a:latin typeface="JetBrains Mono,Consolas" charset="0"/>
                        <a:ea typeface="JetBrains Mono,Consolas" charset="0"/>
                        <a:cs typeface="JetBrains Mono,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5F5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WINDI Wallet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B0B0B0"/>
                          </a:solidFill>
                          <a:latin typeface="JetBrains Mono,Consolas" pitchFamily="34" charset="0"/>
                          <a:ea typeface="JetBrains Mono,Consolas" pitchFamily="34" charset="-122"/>
                          <a:cs typeface="JetBrains Mono,Consolas" pitchFamily="34" charset="-120"/>
                        </a:rPr>
                        <a:t>:8099</a:t>
                      </a:r>
                      <a:endParaRPr lang="en-US" sz="900" dirty="0">
                        <a:latin typeface="JetBrains Mono,Consolas" charset="0"/>
                        <a:ea typeface="JetBrains Mono,Consolas" charset="0"/>
                        <a:cs typeface="JetBrains Mono,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A4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27" name="Shape 19"/>
          <p:cNvSpPr/>
          <p:nvPr/>
        </p:nvSpPr>
        <p:spPr>
          <a:xfrm>
            <a:off x="5760720" y="2743200"/>
            <a:ext cx="2926080" cy="17830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5760720" y="2743200"/>
            <a:ext cx="2926080" cy="36576"/>
          </a:xfrm>
          <a:prstGeom prst="rect">
            <a:avLst/>
          </a:prstGeom>
          <a:solidFill>
            <a:srgbClr val="2ECC71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2880360"/>
            <a:ext cx="228600" cy="22860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217920" y="2880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SENTINEL LAW</a:t>
            </a:r>
            <a:endParaRPr lang="en-US" sz="11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3246120"/>
            <a:ext cx="137160" cy="13716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6172200" y="322783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P95 &lt; 100ms</a:t>
            </a:r>
            <a:endParaRPr lang="en-US" sz="85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3447288"/>
            <a:ext cx="137160" cy="13716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6172200" y="34290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Unsynced = 0</a:t>
            </a:r>
            <a:endParaRPr lang="en-US" sz="85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0" y="3648456"/>
            <a:ext cx="137160" cy="137160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6172200" y="3630168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Drift = 0</a:t>
            </a:r>
            <a:endParaRPr lang="en-US" sz="85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3600" y="3849624"/>
            <a:ext cx="137160" cy="137160"/>
          </a:xfrm>
          <a:prstGeom prst="rect">
            <a:avLst/>
          </a:prstGeom>
        </p:spPr>
      </p:pic>
      <p:sp>
        <p:nvSpPr>
          <p:cNvPr id="38" name="Text 25"/>
          <p:cNvSpPr/>
          <p:nvPr/>
        </p:nvSpPr>
        <p:spPr>
          <a:xfrm>
            <a:off x="6172200" y="383133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= HEALTHY</a:t>
            </a:r>
            <a:endParaRPr lang="en-US" sz="85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3600" y="4050792"/>
            <a:ext cx="137160" cy="137160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6172200" y="40325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Drops = 0</a:t>
            </a:r>
            <a:endParaRPr lang="en-US" sz="85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43600" y="4251960"/>
            <a:ext cx="137160" cy="137160"/>
          </a:xfrm>
          <a:prstGeom prst="rect">
            <a:avLst/>
          </a:prstGeom>
        </p:spPr>
      </p:pic>
      <p:sp>
        <p:nvSpPr>
          <p:cNvPr id="42" name="Text 27"/>
          <p:cNvSpPr/>
          <p:nvPr/>
        </p:nvSpPr>
        <p:spPr>
          <a:xfrm>
            <a:off x="6172200" y="42336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Integrity = VALID</a:t>
            </a:r>
            <a:endParaRPr lang="en-US" sz="850" dirty="0"/>
          </a:p>
        </p:txBody>
      </p:sp>
      <p:sp>
        <p:nvSpPr>
          <p:cNvPr id="43" name="Shape 28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44" name="Shape 29"/>
          <p:cNvSpPr/>
          <p:nvPr/>
        </p:nvSpPr>
        <p:spPr>
          <a:xfrm>
            <a:off x="0" y="4590288"/>
            <a:ext cx="9144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5" name="Text 30"/>
          <p:cNvSpPr/>
          <p:nvPr/>
        </p:nvSpPr>
        <p:spPr>
          <a:xfrm>
            <a:off x="457200" y="4663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WINDI</a:t>
            </a:r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GOVERNANCE REPORT  |  Q1 2026  |  CONFIDENTIAL</a:t>
            </a:r>
            <a:endParaRPr lang="en-US" sz="800" dirty="0"/>
          </a:p>
        </p:txBody>
      </p:sp>
      <p:sp>
        <p:nvSpPr>
          <p:cNvPr id="46" name="Text 31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800" dirty="0"/>
          </a:p>
        </p:txBody>
      </p:sp>
      <p:pic>
        <p:nvPicPr>
          <p:cNvPr id="4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4690872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560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DISTRIBUTION ANALYSIS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57200" y="685800"/>
            <a:ext cx="8229600" cy="13716"/>
          </a:xfrm>
          <a:prstGeom prst="rect">
            <a:avLst/>
          </a:prstGeom>
          <a:solidFill>
            <a:srgbClr val="A08730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274320" y="91440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754880" y="914400"/>
          <a:ext cx="393192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Shape 2"/>
          <p:cNvSpPr/>
          <p:nvPr/>
        </p:nvSpPr>
        <p:spPr>
          <a:xfrm>
            <a:off x="4754880" y="2834640"/>
            <a:ext cx="3931920" cy="12801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8" name="Shape 3"/>
          <p:cNvSpPr/>
          <p:nvPr/>
        </p:nvSpPr>
        <p:spPr>
          <a:xfrm>
            <a:off x="4754880" y="2834640"/>
            <a:ext cx="54864" cy="128016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971800"/>
            <a:ext cx="182880" cy="18288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257800" y="29443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000" dirty="0"/>
          </a:p>
        </p:txBody>
      </p:sp>
      <p:sp>
        <p:nvSpPr>
          <p:cNvPr id="11" name="Text 5"/>
          <p:cNvSpPr/>
          <p:nvPr/>
        </p:nvSpPr>
        <p:spPr>
          <a:xfrm>
            <a:off x="4983480" y="32461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91.1%</a:t>
            </a:r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all documents classified at </a:t>
            </a:r>
            <a:pPr indent="0" marL="0">
              <a:buNone/>
            </a:pPr>
            <a:r>
              <a:rPr lang="en-US" sz="1100" b="1" dirty="0">
                <a:solidFill>
                  <a:srgbClr val="E8D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R0-R2</a:t>
            </a:r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risk levels. Only </a:t>
            </a:r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2.0%</a:t>
            </a:r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classified as </a:t>
            </a:r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 Critical</a:t>
            </a:r>
            <a:pPr indent="0" marL="0">
              <a:buNone/>
            </a:pPr>
            <a:r>
              <a:rPr lang="en-US" sz="1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indicating healthy governance posture.</a:t>
            </a:r>
            <a:endParaRPr lang="en-US" sz="1100" dirty="0"/>
          </a:p>
        </p:txBody>
      </p:sp>
      <p:sp>
        <p:nvSpPr>
          <p:cNvPr id="12" name="Shape 6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13" name="Shape 7"/>
          <p:cNvSpPr/>
          <p:nvPr/>
        </p:nvSpPr>
        <p:spPr>
          <a:xfrm>
            <a:off x="0" y="4590288"/>
            <a:ext cx="9144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Text 8"/>
          <p:cNvSpPr/>
          <p:nvPr/>
        </p:nvSpPr>
        <p:spPr>
          <a:xfrm>
            <a:off x="457200" y="4663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WINDI</a:t>
            </a:r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GOVERNANCE REPORT  |  Q1 2026  |  CONFIDENTIAL</a:t>
            </a:r>
            <a:endParaRPr lang="en-US" sz="800" dirty="0"/>
          </a:p>
        </p:txBody>
      </p:sp>
      <p:sp>
        <p:nvSpPr>
          <p:cNvPr id="15" name="Text 9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8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4690872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560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MILESTONE TIMELINE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57200" y="685800"/>
            <a:ext cx="8229600" cy="13716"/>
          </a:xfrm>
          <a:prstGeom prst="rect">
            <a:avLst/>
          </a:prstGeom>
          <a:solidFill>
            <a:srgbClr val="A08730"/>
          </a:solidFill>
          <a:ln/>
        </p:spPr>
      </p:sp>
      <p:sp>
        <p:nvSpPr>
          <p:cNvPr id="5" name="Shape 2"/>
          <p:cNvSpPr/>
          <p:nvPr/>
        </p:nvSpPr>
        <p:spPr>
          <a:xfrm>
            <a:off x="731520" y="2468880"/>
            <a:ext cx="7680960" cy="27432"/>
          </a:xfrm>
          <a:prstGeom prst="rect">
            <a:avLst/>
          </a:prstGeom>
          <a:solidFill>
            <a:srgbClr val="A08730"/>
          </a:solidFill>
          <a:ln/>
        </p:spPr>
      </p:sp>
      <p:sp>
        <p:nvSpPr>
          <p:cNvPr id="6" name="Shape 3"/>
          <p:cNvSpPr/>
          <p:nvPr/>
        </p:nvSpPr>
        <p:spPr>
          <a:xfrm>
            <a:off x="868680" y="2395728"/>
            <a:ext cx="182880" cy="182880"/>
          </a:xfrm>
          <a:prstGeom prst="ellipse">
            <a:avLst/>
          </a:prstGeom>
          <a:solidFill>
            <a:srgbClr val="A0873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26060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JetBrains Mono,Consolas" pitchFamily="34" charset="0"/>
                <a:ea typeface="JetBrains Mono,Consolas" pitchFamily="34" charset="-122"/>
                <a:cs typeface="JetBrains Mono,Consolas" pitchFamily="34" charset="-120"/>
              </a:rPr>
              <a:t>01 Feb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950976" y="1828800"/>
            <a:ext cx="18288" cy="566928"/>
          </a:xfrm>
          <a:prstGeom prst="rect">
            <a:avLst/>
          </a:prstGeom>
          <a:solidFill>
            <a:srgbClr val="4A4A5A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1005840"/>
            <a:ext cx="822960" cy="8229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25400" dist="127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94360" y="10515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Submission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12801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 Model REG-20260201-0001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COMPLETE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2240280" y="2395728"/>
            <a:ext cx="182880" cy="182880"/>
          </a:xfrm>
          <a:prstGeom prst="ellipse">
            <a:avLst/>
          </a:prstGeom>
          <a:solidFill>
            <a:srgbClr val="A08730"/>
          </a:solidFill>
          <a:ln/>
        </p:spPr>
      </p:sp>
      <p:sp>
        <p:nvSpPr>
          <p:cNvPr id="13" name="Text 10"/>
          <p:cNvSpPr/>
          <p:nvPr/>
        </p:nvSpPr>
        <p:spPr>
          <a:xfrm>
            <a:off x="1920240" y="26060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JetBrains Mono,Consolas" pitchFamily="34" charset="0"/>
                <a:ea typeface="JetBrains Mono,Consolas" pitchFamily="34" charset="-122"/>
                <a:cs typeface="JetBrains Mono,Consolas" pitchFamily="34" charset="-120"/>
              </a:rPr>
              <a:t>04 Feb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2322576" y="1828800"/>
            <a:ext cx="18288" cy="566928"/>
          </a:xfrm>
          <a:prstGeom prst="rect">
            <a:avLst/>
          </a:prstGeom>
          <a:solidFill>
            <a:srgbClr val="4A4A5A"/>
          </a:solidFill>
          <a:ln/>
        </p:spPr>
      </p:sp>
      <p:sp>
        <p:nvSpPr>
          <p:cNvPr id="15" name="Shape 12"/>
          <p:cNvSpPr/>
          <p:nvPr/>
        </p:nvSpPr>
        <p:spPr>
          <a:xfrm>
            <a:off x="1920240" y="1005840"/>
            <a:ext cx="822960" cy="8229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25400" dist="12700" dir="81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965960" y="10515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DGI Concept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1965960" y="12801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Bloomberg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Governance</a:t>
            </a:r>
            <a:endParaRPr lang="en-US" sz="650" dirty="0"/>
          </a:p>
        </p:txBody>
      </p:sp>
      <p:sp>
        <p:nvSpPr>
          <p:cNvPr id="18" name="Shape 15"/>
          <p:cNvSpPr/>
          <p:nvPr/>
        </p:nvSpPr>
        <p:spPr>
          <a:xfrm>
            <a:off x="3611880" y="2395728"/>
            <a:ext cx="182880" cy="182880"/>
          </a:xfrm>
          <a:prstGeom prst="ellipse">
            <a:avLst/>
          </a:prstGeom>
          <a:solidFill>
            <a:srgbClr val="A08730"/>
          </a:solidFill>
          <a:ln/>
        </p:spPr>
      </p:sp>
      <p:sp>
        <p:nvSpPr>
          <p:cNvPr id="19" name="Text 16"/>
          <p:cNvSpPr/>
          <p:nvPr/>
        </p:nvSpPr>
        <p:spPr>
          <a:xfrm>
            <a:off x="3291840" y="21488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JetBrains Mono,Consolas" pitchFamily="34" charset="0"/>
                <a:ea typeface="JetBrains Mono,Consolas" pitchFamily="34" charset="-122"/>
                <a:cs typeface="JetBrains Mono,Consolas" pitchFamily="34" charset="-120"/>
              </a:rPr>
              <a:t>08 Feb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694176" y="2578608"/>
            <a:ext cx="18288" cy="256032"/>
          </a:xfrm>
          <a:prstGeom prst="rect">
            <a:avLst/>
          </a:prstGeom>
          <a:solidFill>
            <a:srgbClr val="4A4A5A"/>
          </a:solidFill>
          <a:ln/>
        </p:spPr>
      </p:sp>
      <p:sp>
        <p:nvSpPr>
          <p:cNvPr id="21" name="Shape 18"/>
          <p:cNvSpPr/>
          <p:nvPr/>
        </p:nvSpPr>
        <p:spPr>
          <a:xfrm>
            <a:off x="3291840" y="2834640"/>
            <a:ext cx="822960" cy="8229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25400" dist="12700" dir="810000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337560" y="28803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SIP Protocol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337560" y="31089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sovereign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650" dirty="0"/>
          </a:p>
        </p:txBody>
      </p:sp>
      <p:sp>
        <p:nvSpPr>
          <p:cNvPr id="24" name="Shape 21"/>
          <p:cNvSpPr/>
          <p:nvPr/>
        </p:nvSpPr>
        <p:spPr>
          <a:xfrm>
            <a:off x="4983480" y="2395728"/>
            <a:ext cx="182880" cy="182880"/>
          </a:xfrm>
          <a:prstGeom prst="ellipse">
            <a:avLst/>
          </a:prstGeom>
          <a:solidFill>
            <a:srgbClr val="A08730"/>
          </a:solidFill>
          <a:ln/>
        </p:spPr>
      </p:sp>
      <p:sp>
        <p:nvSpPr>
          <p:cNvPr id="25" name="Text 22"/>
          <p:cNvSpPr/>
          <p:nvPr/>
        </p:nvSpPr>
        <p:spPr>
          <a:xfrm>
            <a:off x="4663440" y="21488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JetBrains Mono,Consolas" pitchFamily="34" charset="0"/>
                <a:ea typeface="JetBrains Mono,Consolas" pitchFamily="34" charset="-122"/>
                <a:cs typeface="JetBrains Mono,Consolas" pitchFamily="34" charset="-120"/>
              </a:rPr>
              <a:t>15 Feb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065776" y="2578608"/>
            <a:ext cx="18288" cy="256032"/>
          </a:xfrm>
          <a:prstGeom prst="rect">
            <a:avLst/>
          </a:prstGeom>
          <a:solidFill>
            <a:srgbClr val="4A4A5A"/>
          </a:solidFill>
          <a:ln/>
        </p:spPr>
      </p:sp>
      <p:sp>
        <p:nvSpPr>
          <p:cNvPr id="27" name="Shape 24"/>
          <p:cNvSpPr/>
          <p:nvPr/>
        </p:nvSpPr>
        <p:spPr>
          <a:xfrm>
            <a:off x="4663440" y="2834640"/>
            <a:ext cx="822960" cy="8229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25400" dist="12700" dir="810000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709160" y="28803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Wallet Launch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4709160" y="31089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Espelho — Ed25519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trilingual React</a:t>
            </a:r>
            <a:endParaRPr lang="en-US" sz="650" dirty="0"/>
          </a:p>
        </p:txBody>
      </p:sp>
      <p:sp>
        <p:nvSpPr>
          <p:cNvPr id="30" name="Shape 27"/>
          <p:cNvSpPr/>
          <p:nvPr/>
        </p:nvSpPr>
        <p:spPr>
          <a:xfrm>
            <a:off x="6355080" y="2395728"/>
            <a:ext cx="182880" cy="182880"/>
          </a:xfrm>
          <a:prstGeom prst="ellipse">
            <a:avLst/>
          </a:prstGeom>
          <a:solidFill>
            <a:srgbClr val="A08730"/>
          </a:solidFill>
          <a:ln/>
        </p:spPr>
      </p:sp>
      <p:sp>
        <p:nvSpPr>
          <p:cNvPr id="31" name="Text 28"/>
          <p:cNvSpPr/>
          <p:nvPr/>
        </p:nvSpPr>
        <p:spPr>
          <a:xfrm>
            <a:off x="6035040" y="26060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JetBrains Mono,Consolas" pitchFamily="34" charset="0"/>
                <a:ea typeface="JetBrains Mono,Consolas" pitchFamily="34" charset="-122"/>
                <a:cs typeface="JetBrains Mono,Consolas" pitchFamily="34" charset="-120"/>
              </a:rPr>
              <a:t>16 Feb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437376" y="1828800"/>
            <a:ext cx="18288" cy="566928"/>
          </a:xfrm>
          <a:prstGeom prst="rect">
            <a:avLst/>
          </a:prstGeom>
          <a:solidFill>
            <a:srgbClr val="4A4A5A"/>
          </a:solidFill>
          <a:ln/>
        </p:spPr>
      </p:sp>
      <p:sp>
        <p:nvSpPr>
          <p:cNvPr id="33" name="Shape 30"/>
          <p:cNvSpPr/>
          <p:nvPr/>
        </p:nvSpPr>
        <p:spPr>
          <a:xfrm>
            <a:off x="6035040" y="1005840"/>
            <a:ext cx="822960" cy="8229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25400" dist="12700" dir="8100000">
              <a:srgbClr val="000000">
                <a:alpha val="2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6080760" y="10515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Forensic Ledger v2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6080760" y="12801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BaseHTTPRequestHandler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+SQLite</a:t>
            </a:r>
            <a:endParaRPr lang="en-US" sz="650" dirty="0"/>
          </a:p>
        </p:txBody>
      </p:sp>
      <p:sp>
        <p:nvSpPr>
          <p:cNvPr id="36" name="Shape 33"/>
          <p:cNvSpPr/>
          <p:nvPr/>
        </p:nvSpPr>
        <p:spPr>
          <a:xfrm>
            <a:off x="7726680" y="2395728"/>
            <a:ext cx="182880" cy="18288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37" name="Text 34"/>
          <p:cNvSpPr/>
          <p:nvPr/>
        </p:nvSpPr>
        <p:spPr>
          <a:xfrm>
            <a:off x="7406640" y="21488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AF37"/>
                </a:solidFill>
                <a:latin typeface="JetBrains Mono,Consolas" pitchFamily="34" charset="0"/>
                <a:ea typeface="JetBrains Mono,Consolas" pitchFamily="34" charset="-122"/>
                <a:cs typeface="JetBrains Mono,Consolas" pitchFamily="34" charset="-120"/>
              </a:rPr>
              <a:t>17 Feb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808976" y="2578608"/>
            <a:ext cx="18288" cy="256032"/>
          </a:xfrm>
          <a:prstGeom prst="rect">
            <a:avLst/>
          </a:prstGeom>
          <a:solidFill>
            <a:srgbClr val="4A4A5A"/>
          </a:solidFill>
          <a:ln/>
        </p:spPr>
      </p:sp>
      <p:sp>
        <p:nvSpPr>
          <p:cNvPr id="39" name="Shape 36"/>
          <p:cNvSpPr/>
          <p:nvPr/>
        </p:nvSpPr>
        <p:spPr>
          <a:xfrm>
            <a:off x="7406640" y="2834640"/>
            <a:ext cx="822960" cy="82296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25400" dist="12700" dir="8100000">
              <a:srgbClr val="000000">
                <a:alpha val="25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7452360" y="28803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D1 + M3 + LAW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7452360" y="31089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Trinity +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Engine LIVE</a:t>
            </a:r>
            <a:endParaRPr lang="en-US" sz="650" dirty="0"/>
          </a:p>
        </p:txBody>
      </p:sp>
      <p:sp>
        <p:nvSpPr>
          <p:cNvPr id="42" name="Shape 39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43" name="Shape 40"/>
          <p:cNvSpPr/>
          <p:nvPr/>
        </p:nvSpPr>
        <p:spPr>
          <a:xfrm>
            <a:off x="0" y="4590288"/>
            <a:ext cx="9144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663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WINDI</a:t>
            </a:r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GOVERNANCE REPORT  |  Q1 2026  |  CONFIDENTIAL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800" dirty="0"/>
          </a:p>
        </p:txBody>
      </p:sp>
      <p:pic>
        <p:nvPicPr>
          <p:cNvPr id="4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4690872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560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&amp; ARCHITECTURE STATUS</a:t>
            </a:r>
            <a:endParaRPr lang="en-US" sz="1400" dirty="0"/>
          </a:p>
        </p:txBody>
      </p:sp>
      <p:sp>
        <p:nvSpPr>
          <p:cNvPr id="4" name="Shape 1"/>
          <p:cNvSpPr/>
          <p:nvPr/>
        </p:nvSpPr>
        <p:spPr>
          <a:xfrm>
            <a:off x="457200" y="685800"/>
            <a:ext cx="8229600" cy="13716"/>
          </a:xfrm>
          <a:prstGeom prst="rect">
            <a:avLst/>
          </a:prstGeom>
          <a:solidFill>
            <a:srgbClr val="A08730"/>
          </a:solidFill>
          <a:ln/>
        </p:spPr>
      </p:sp>
      <p:sp>
        <p:nvSpPr>
          <p:cNvPr id="5" name="Shape 2"/>
          <p:cNvSpPr/>
          <p:nvPr/>
        </p:nvSpPr>
        <p:spPr>
          <a:xfrm>
            <a:off x="457200" y="914400"/>
            <a:ext cx="4114800" cy="8686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914400"/>
            <a:ext cx="54864" cy="868680"/>
          </a:xfrm>
          <a:prstGeom prst="rect">
            <a:avLst/>
          </a:prstGeom>
          <a:solidFill>
            <a:srgbClr val="1ABC9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15568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1005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 — a4Desk (Edge)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188720" y="129844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SGE local processing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data sovereignty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468880" y="1783080"/>
            <a:ext cx="18288" cy="182880"/>
          </a:xfrm>
          <a:prstGeom prst="rect">
            <a:avLst/>
          </a:prstGeom>
          <a:solidFill>
            <a:srgbClr val="4A4A5A"/>
          </a:solidFill>
          <a:ln/>
        </p:spPr>
      </p:sp>
      <p:sp>
        <p:nvSpPr>
          <p:cNvPr id="11" name="Shape 7"/>
          <p:cNvSpPr/>
          <p:nvPr/>
        </p:nvSpPr>
        <p:spPr>
          <a:xfrm>
            <a:off x="457200" y="1965960"/>
            <a:ext cx="4114800" cy="8686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" y="1965960"/>
            <a:ext cx="54864" cy="86868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67128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 — WINDI Mesh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1188720" y="235000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Controllers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orchestration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2468880" y="2834640"/>
            <a:ext cx="18288" cy="182880"/>
          </a:xfrm>
          <a:prstGeom prst="rect">
            <a:avLst/>
          </a:prstGeom>
          <a:solidFill>
            <a:srgbClr val="4A4A5A"/>
          </a:solidFill>
          <a:ln/>
        </p:spPr>
      </p:sp>
      <p:sp>
        <p:nvSpPr>
          <p:cNvPr id="17" name="Shape 12"/>
          <p:cNvSpPr/>
          <p:nvPr/>
        </p:nvSpPr>
        <p:spPr>
          <a:xfrm>
            <a:off x="457200" y="3017520"/>
            <a:ext cx="4114800" cy="86868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57200" y="3017520"/>
            <a:ext cx="54864" cy="868680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218688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8872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L3 — Forensic Ledger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1188720" y="34015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hashes, Merkle Tree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Virtue Receipts, ZK Proofs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4846320" y="914400"/>
            <a:ext cx="3840480" cy="347472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846320" y="914400"/>
            <a:ext cx="384048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4" name="Text 18"/>
          <p:cNvSpPr/>
          <p:nvPr/>
        </p:nvSpPr>
        <p:spPr>
          <a:xfrm>
            <a:off x="5029200" y="10515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FRAMEWORK</a:t>
            </a:r>
            <a:endParaRPr lang="en-US" sz="11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1481328"/>
            <a:ext cx="164592" cy="16459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49240" y="1463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Architecture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7589520" y="1463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JetBrains Mono,Consolas" pitchFamily="34" charset="0"/>
                <a:ea typeface="JetBrains Mono,Consolas" pitchFamily="34" charset="-122"/>
                <a:cs typeface="JetBrains Mono,Consolas" pitchFamily="34" charset="-120"/>
              </a:rPr>
              <a:t>ACTIVE</a:t>
            </a:r>
            <a:endParaRPr lang="en-US" sz="8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1801368"/>
            <a:ext cx="164592" cy="16459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349240" y="1783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AI Act Alignment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7589520" y="17830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JetBrains Mono,Consolas" pitchFamily="34" charset="0"/>
                <a:ea typeface="JetBrains Mono,Consolas" pitchFamily="34" charset="-122"/>
                <a:cs typeface="JetBrains Mono,Consolas" pitchFamily="34" charset="-120"/>
              </a:rPr>
              <a:t>DESIGNED</a:t>
            </a:r>
            <a:endParaRPr lang="en-US" sz="8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4920" y="2121408"/>
            <a:ext cx="164592" cy="16459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349240" y="21031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 C5 Compatibility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7589520" y="21031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JetBrains Mono,Consolas" pitchFamily="34" charset="0"/>
                <a:ea typeface="JetBrains Mono,Consolas" pitchFamily="34" charset="-122"/>
                <a:cs typeface="JetBrains Mono,Consolas" pitchFamily="34" charset="-120"/>
              </a:rPr>
              <a:t>READY</a:t>
            </a:r>
            <a:endParaRPr lang="en-US" sz="800" dirty="0"/>
          </a:p>
        </p:txBody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2441448"/>
            <a:ext cx="164592" cy="16459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349240" y="24231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Framework</a:t>
            </a:r>
            <a:endParaRPr lang="en-US" sz="900" dirty="0"/>
          </a:p>
        </p:txBody>
      </p:sp>
      <p:sp>
        <p:nvSpPr>
          <p:cNvPr id="36" name="Text 26"/>
          <p:cNvSpPr/>
          <p:nvPr/>
        </p:nvSpPr>
        <p:spPr>
          <a:xfrm>
            <a:off x="7589520" y="24231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JetBrains Mono,Consolas" pitchFamily="34" charset="0"/>
                <a:ea typeface="JetBrains Mono,Consolas" pitchFamily="34" charset="-122"/>
                <a:cs typeface="JetBrains Mono,Consolas" pitchFamily="34" charset="-120"/>
              </a:rPr>
              <a:t>PLANNED</a:t>
            </a:r>
            <a:endParaRPr lang="en-US" sz="8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74920" y="2761488"/>
            <a:ext cx="164592" cy="164592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5349240" y="27432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Data Sovereignty</a:t>
            </a:r>
            <a:endParaRPr lang="en-US" sz="900" dirty="0"/>
          </a:p>
        </p:txBody>
      </p:sp>
      <p:sp>
        <p:nvSpPr>
          <p:cNvPr id="39" name="Text 28"/>
          <p:cNvSpPr/>
          <p:nvPr/>
        </p:nvSpPr>
        <p:spPr>
          <a:xfrm>
            <a:off x="7589520" y="27432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JetBrains Mono,Consolas" pitchFamily="34" charset="0"/>
                <a:ea typeface="JetBrains Mono,Consolas" pitchFamily="34" charset="-122"/>
                <a:cs typeface="JetBrains Mono,Consolas" pitchFamily="34" charset="-120"/>
              </a:rPr>
              <a:t>ACTIVE</a:t>
            </a:r>
            <a:endParaRPr lang="en-US" sz="80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4920" y="3081528"/>
            <a:ext cx="164592" cy="164592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5349240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Constitutional Invariants</a:t>
            </a:r>
            <a:endParaRPr lang="en-US" sz="900" dirty="0"/>
          </a:p>
        </p:txBody>
      </p:sp>
      <p:sp>
        <p:nvSpPr>
          <p:cNvPr id="42" name="Text 30"/>
          <p:cNvSpPr/>
          <p:nvPr/>
        </p:nvSpPr>
        <p:spPr>
          <a:xfrm>
            <a:off x="7589520" y="30632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JetBrains Mono,Consolas" pitchFamily="34" charset="0"/>
                <a:ea typeface="JetBrains Mono,Consolas" pitchFamily="34" charset="-122"/>
                <a:cs typeface="JetBrains Mono,Consolas" pitchFamily="34" charset="-120"/>
              </a:rPr>
              <a:t>ENFORCED</a:t>
            </a:r>
            <a:endParaRPr lang="en-US" sz="800" dirty="0"/>
          </a:p>
        </p:txBody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74920" y="3401568"/>
            <a:ext cx="164592" cy="164592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5349240" y="33832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I9 Autonomy Prohibition</a:t>
            </a:r>
            <a:endParaRPr lang="en-US" sz="900" dirty="0"/>
          </a:p>
        </p:txBody>
      </p:sp>
      <p:sp>
        <p:nvSpPr>
          <p:cNvPr id="45" name="Text 32"/>
          <p:cNvSpPr/>
          <p:nvPr/>
        </p:nvSpPr>
        <p:spPr>
          <a:xfrm>
            <a:off x="7589520" y="33832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JetBrains Mono,Consolas" pitchFamily="34" charset="0"/>
                <a:ea typeface="JetBrains Mono,Consolas" pitchFamily="34" charset="-122"/>
                <a:cs typeface="JetBrains Mono,Consolas" pitchFamily="34" charset="-120"/>
              </a:rPr>
              <a:t>IRREMEDIABLE</a:t>
            </a:r>
            <a:endParaRPr lang="en-US" sz="800" dirty="0"/>
          </a:p>
        </p:txBody>
      </p:sp>
      <p:pic>
        <p:nvPicPr>
          <p:cNvPr id="4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74920" y="3721608"/>
            <a:ext cx="164592" cy="164592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5349240" y="3703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LAW Monitoring</a:t>
            </a:r>
            <a:endParaRPr lang="en-US" sz="900" dirty="0"/>
          </a:p>
        </p:txBody>
      </p:sp>
      <p:sp>
        <p:nvSpPr>
          <p:cNvPr id="48" name="Text 34"/>
          <p:cNvSpPr/>
          <p:nvPr/>
        </p:nvSpPr>
        <p:spPr>
          <a:xfrm>
            <a:off x="7589520" y="3703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ECC71"/>
                </a:solidFill>
                <a:latin typeface="JetBrains Mono,Consolas" pitchFamily="34" charset="0"/>
                <a:ea typeface="JetBrains Mono,Consolas" pitchFamily="34" charset="-122"/>
                <a:cs typeface="JetBrains Mono,Consolas" pitchFamily="34" charset="-120"/>
              </a:rPr>
              <a:t>LIVE</a:t>
            </a:r>
            <a:endParaRPr lang="en-US" sz="800" dirty="0"/>
          </a:p>
        </p:txBody>
      </p:sp>
      <p:sp>
        <p:nvSpPr>
          <p:cNvPr id="49" name="Shape 35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F0F1A"/>
          </a:solidFill>
          <a:ln/>
        </p:spPr>
      </p:sp>
      <p:sp>
        <p:nvSpPr>
          <p:cNvPr id="50" name="Shape 36"/>
          <p:cNvSpPr/>
          <p:nvPr/>
        </p:nvSpPr>
        <p:spPr>
          <a:xfrm>
            <a:off x="0" y="4590288"/>
            <a:ext cx="914400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1" name="Text 37"/>
          <p:cNvSpPr/>
          <p:nvPr/>
        </p:nvSpPr>
        <p:spPr>
          <a:xfrm>
            <a:off x="457200" y="4663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WINDI</a:t>
            </a:r>
            <a:pPr indent="0" marL="0">
              <a:buNone/>
            </a:pPr>
            <a:r>
              <a:rPr lang="en-US" sz="7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GOVERNANCE REPORT  |  Q1 2026  |  CONFIDENTIAL</a:t>
            </a:r>
            <a:endParaRPr lang="en-US" sz="800" dirty="0"/>
          </a:p>
        </p:txBody>
      </p:sp>
      <p:sp>
        <p:nvSpPr>
          <p:cNvPr id="52" name="Text 38"/>
          <p:cNvSpPr/>
          <p:nvPr/>
        </p:nvSpPr>
        <p:spPr>
          <a:xfrm>
            <a:off x="7772400" y="46634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800" dirty="0"/>
          </a:p>
        </p:txBody>
      </p:sp>
      <p:pic>
        <p:nvPicPr>
          <p:cNvPr id="5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2880" y="4690872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WINDI FORENSIC RECEIPT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Integrity Proof  |  Zero-Knowledge Compliance</a:t>
            </a: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82880"/>
            <a:ext cx="1463040" cy="14630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005840"/>
            <a:ext cx="6400800" cy="13716"/>
          </a:xfrm>
          <a:prstGeom prst="rect">
            <a:avLst/>
          </a:prstGeom>
          <a:solidFill>
            <a:srgbClr val="A0873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88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8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ID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560320" y="11887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VR-GOV-REPORT-2026Q1-a7f3e9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1463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8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Hash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560320" y="14630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JetBrains Mono,Consolas" pitchFamily="34" charset="0"/>
                <a:ea typeface="JetBrains Mono,Consolas" pitchFamily="34" charset="-122"/>
                <a:cs typeface="JetBrains Mono,Consolas" pitchFamily="34" charset="-120"/>
              </a:rPr>
              <a:t>sha256:e3b0c44298fc1c149afbf4c8996fb924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560320" y="173736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JetBrains Mono,Consolas" pitchFamily="34" charset="0"/>
                <a:ea typeface="JetBrains Mono,Consolas" pitchFamily="34" charset="-122"/>
                <a:cs typeface="JetBrains Mono,Consolas" pitchFamily="34" charset="-120"/>
              </a:rPr>
              <a:t>27ae41e4649b934ca495991b7852b855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40080" y="2011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8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560320" y="20116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2026-02-17T15:42:00Z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40080" y="22860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8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560320" y="228600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40080" y="2560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8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 Entry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560320" y="256032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#247 — Chain VALID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40080" y="2834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8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 Applied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560320" y="283464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WINDI Governance — Noir Theme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40080" y="31089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8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2560320" y="310896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— Merkle Root Consistent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40080" y="3383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08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LAW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2560320" y="3383280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 Invariants PASS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solidFill>
            <a:srgbClr val="16213E"/>
          </a:solidFill>
          <a:ln/>
          <a:effectLst>
            <a:outerShdw sx="100000" sy="100000" kx="0" ky="0" algn="bl" rotWithShape="0" blurRad="38100" dist="127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7200" y="3794760"/>
            <a:ext cx="45720" cy="685800"/>
          </a:xfrm>
          <a:prstGeom prst="rect">
            <a:avLst/>
          </a:prstGeom>
          <a:solidFill>
            <a:srgbClr val="D4AF37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86200"/>
            <a:ext cx="228600" cy="22860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005840" y="38587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ZERO-KNOWLEDGE ARCHITECTURE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1005840" y="41330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 is self-sovereign. WINDI stores the cryptographic proof (hash), never the content. Client retains full data sovereignty. Verification possible offline via hash comparison.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1" name="Text 2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08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processes. Human decides. WINDI guarantees.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WINDI Governance Report — Q1 2026</dc:title>
  <dc:subject>PptxGenJS Presentation</dc:subject>
  <dc:creator>WINDI Governance System</dc:creator>
  <cp:lastModifiedBy>WINDI Governance System</cp:lastModifiedBy>
  <cp:revision>1</cp:revision>
  <dcterms:created xsi:type="dcterms:W3CDTF">2026-02-17T16:43:22Z</dcterms:created>
  <dcterms:modified xsi:type="dcterms:W3CDTF">2026-02-17T16:43:22Z</dcterms:modified>
</cp:coreProperties>
</file>